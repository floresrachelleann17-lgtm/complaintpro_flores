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815" r:id="rId1"/>
  </p:sldMasterIdLst>
  <p:sldIdLst>
    <p:sldId id="256" r:id="rId2"/>
    <p:sldId id="257" r:id="rId3"/>
    <p:sldId id="258" r:id="rId4"/>
    <p:sldId id="259" r:id="rId5"/>
    <p:sldId id="260" r:id="rId6"/>
    <p:sldId id="261" r:id="rId7"/>
    <p:sldId id="262" r:id="rId8"/>
    <p:sldId id="264"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8183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3193319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3289197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8177C7-EA67-4017-B8E7-F69FA427E7A1}" type="datetimeFigureOut">
              <a:rPr lang="en-PH" smtClean="0"/>
              <a:t>04/02/2026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352529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8177C7-EA67-4017-B8E7-F69FA427E7A1}" type="datetimeFigureOut">
              <a:rPr lang="en-PH" smtClean="0"/>
              <a:t>04/02/2026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111354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8177C7-EA67-4017-B8E7-F69FA427E7A1}" type="datetimeFigureOut">
              <a:rPr lang="en-PH" smtClean="0"/>
              <a:t>04/02/2026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4142090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8177C7-EA67-4017-B8E7-F69FA427E7A1}" type="datetimeFigureOut">
              <a:rPr lang="en-PH" smtClean="0"/>
              <a:t>04/02/2026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2903729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8177C7-EA67-4017-B8E7-F69FA427E7A1}" type="datetimeFigureOut">
              <a:rPr lang="en-PH" smtClean="0"/>
              <a:t>04/02/2026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1771671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8177C7-EA67-4017-B8E7-F69FA427E7A1}" type="datetimeFigureOut">
              <a:rPr lang="en-PH" smtClean="0"/>
              <a:t>04/02/2026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2123389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EB8177C7-EA67-4017-B8E7-F69FA427E7A1}" type="datetimeFigureOut">
              <a:rPr lang="en-PH" smtClean="0"/>
              <a:t>04/02/2026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2332436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938438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927346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248956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803876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3645236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1342148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8177C7-EA67-4017-B8E7-F69FA427E7A1}" type="datetimeFigureOut">
              <a:rPr lang="en-PH" smtClean="0"/>
              <a:t>04/02/2026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F0043B60-D14A-4F45-ADCB-879CD6A18402}" type="slidenum">
              <a:rPr lang="en-PH" smtClean="0"/>
              <a:t>‹#›</a:t>
            </a:fld>
            <a:endParaRPr lang="en-PH"/>
          </a:p>
        </p:txBody>
      </p:sp>
    </p:spTree>
    <p:extLst>
      <p:ext uri="{BB962C8B-B14F-4D97-AF65-F5344CB8AC3E}">
        <p14:creationId xmlns:p14="http://schemas.microsoft.com/office/powerpoint/2010/main" val="2102459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B8177C7-EA67-4017-B8E7-F69FA427E7A1}" type="datetimeFigureOut">
              <a:rPr lang="en-PH" smtClean="0"/>
              <a:t>04/02/2026</a:t>
            </a:fld>
            <a:endParaRPr lang="en-PH"/>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PH"/>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F0043B60-D14A-4F45-ADCB-879CD6A18402}" type="slidenum">
              <a:rPr lang="en-PH" smtClean="0"/>
              <a:t>‹#›</a:t>
            </a:fld>
            <a:endParaRPr lang="en-PH"/>
          </a:p>
        </p:txBody>
      </p:sp>
    </p:spTree>
    <p:extLst>
      <p:ext uri="{BB962C8B-B14F-4D97-AF65-F5344CB8AC3E}">
        <p14:creationId xmlns:p14="http://schemas.microsoft.com/office/powerpoint/2010/main" val="2035469857"/>
      </p:ext>
    </p:extLst>
  </p:cSld>
  <p:clrMap bg1="dk1" tx1="lt1" bg2="dk2" tx2="lt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419AE-0786-B899-2D17-AFD802B89835}"/>
              </a:ext>
            </a:extLst>
          </p:cNvPr>
          <p:cNvSpPr>
            <a:spLocks noGrp="1"/>
          </p:cNvSpPr>
          <p:nvPr>
            <p:ph type="ctrTitle"/>
          </p:nvPr>
        </p:nvSpPr>
        <p:spPr>
          <a:xfrm>
            <a:off x="684211" y="539884"/>
            <a:ext cx="8693253" cy="2971801"/>
          </a:xfrm>
        </p:spPr>
        <p:txBody>
          <a:bodyPr>
            <a:normAutofit/>
          </a:bodyPr>
          <a:lstStyle/>
          <a:p>
            <a:r>
              <a:rPr lang="en-US" b="1" dirty="0" err="1">
                <a:solidFill>
                  <a:schemeClr val="bg1"/>
                </a:solidFill>
                <a:latin typeface="Agency FB" panose="020B0503020202020204" pitchFamily="34" charset="0"/>
              </a:rPr>
              <a:t>ComplaintPro</a:t>
            </a:r>
            <a:r>
              <a:rPr lang="en-US" dirty="0">
                <a:solidFill>
                  <a:schemeClr val="bg1"/>
                </a:solidFill>
                <a:latin typeface="Agency FB" panose="020B0503020202020204" pitchFamily="34" charset="0"/>
              </a:rPr>
              <a:t>:</a:t>
            </a:r>
            <a:br>
              <a:rPr lang="en-US" dirty="0">
                <a:solidFill>
                  <a:schemeClr val="bg1"/>
                </a:solidFill>
                <a:latin typeface="Agency FB" panose="020B0503020202020204" pitchFamily="34" charset="0"/>
              </a:rPr>
            </a:br>
            <a:r>
              <a:rPr lang="en-US" dirty="0">
                <a:solidFill>
                  <a:schemeClr val="bg1"/>
                </a:solidFill>
                <a:latin typeface="Agency FB" panose="020B0503020202020204" pitchFamily="34" charset="0"/>
              </a:rPr>
              <a:t>Complaint Management System of Barangay </a:t>
            </a:r>
            <a:r>
              <a:rPr lang="en-US" dirty="0" err="1">
                <a:solidFill>
                  <a:schemeClr val="bg1"/>
                </a:solidFill>
                <a:latin typeface="Agency FB" panose="020B0503020202020204" pitchFamily="34" charset="0"/>
              </a:rPr>
              <a:t>Kingking</a:t>
            </a:r>
            <a:endParaRPr lang="en-PH" dirty="0">
              <a:solidFill>
                <a:schemeClr val="bg1"/>
              </a:solidFill>
              <a:latin typeface="Agency FB" panose="020B0503020202020204" pitchFamily="34" charset="0"/>
            </a:endParaRPr>
          </a:p>
        </p:txBody>
      </p:sp>
      <p:sp>
        <p:nvSpPr>
          <p:cNvPr id="3" name="Subtitle 2">
            <a:extLst>
              <a:ext uri="{FF2B5EF4-FFF2-40B4-BE49-F238E27FC236}">
                <a16:creationId xmlns:a16="http://schemas.microsoft.com/office/drawing/2014/main" id="{78F7D645-D65F-F4F7-81B1-86A6A02F4BB9}"/>
              </a:ext>
            </a:extLst>
          </p:cNvPr>
          <p:cNvSpPr>
            <a:spLocks noGrp="1"/>
          </p:cNvSpPr>
          <p:nvPr>
            <p:ph type="subTitle" idx="1"/>
          </p:nvPr>
        </p:nvSpPr>
        <p:spPr/>
        <p:txBody>
          <a:bodyPr>
            <a:normAutofit/>
          </a:bodyPr>
          <a:lstStyle/>
          <a:p>
            <a:r>
              <a:rPr lang="en-PH" sz="2400" dirty="0"/>
              <a:t>A Console-Based Mini Information System for Efficient Complaint Management</a:t>
            </a:r>
          </a:p>
        </p:txBody>
      </p:sp>
    </p:spTree>
    <p:extLst>
      <p:ext uri="{BB962C8B-B14F-4D97-AF65-F5344CB8AC3E}">
        <p14:creationId xmlns:p14="http://schemas.microsoft.com/office/powerpoint/2010/main" val="600897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A0DC2-E7F2-0CE3-B3D3-2459801010B0}"/>
              </a:ext>
            </a:extLst>
          </p:cNvPr>
          <p:cNvSpPr>
            <a:spLocks noGrp="1"/>
          </p:cNvSpPr>
          <p:nvPr>
            <p:ph idx="1"/>
          </p:nvPr>
        </p:nvSpPr>
        <p:spPr>
          <a:xfrm>
            <a:off x="894943" y="1150654"/>
            <a:ext cx="8881354" cy="4987500"/>
          </a:xfrm>
        </p:spPr>
        <p:txBody>
          <a:bodyPr/>
          <a:lstStyle/>
          <a:p>
            <a:r>
              <a:rPr lang="en-US" sz="2400" b="1" dirty="0">
                <a:solidFill>
                  <a:schemeClr val="bg1"/>
                </a:solidFill>
              </a:rPr>
              <a:t>Description</a:t>
            </a:r>
            <a:r>
              <a:rPr lang="en-US" sz="2400" dirty="0">
                <a:solidFill>
                  <a:schemeClr val="bg1"/>
                </a:solidFill>
              </a:rPr>
              <a:t>: </a:t>
            </a:r>
            <a:r>
              <a:rPr lang="en-US" sz="2400" dirty="0" err="1">
                <a:solidFill>
                  <a:schemeClr val="bg1"/>
                </a:solidFill>
              </a:rPr>
              <a:t>ComplaintPro</a:t>
            </a:r>
            <a:r>
              <a:rPr lang="en-US" sz="2400" dirty="0">
                <a:solidFill>
                  <a:schemeClr val="bg1"/>
                </a:solidFill>
              </a:rPr>
              <a:t> is a console-based mini information system developed in Kotlin to automate barangay complaint management, addressing manual inefficiencies like delayed responses and misplaced records.</a:t>
            </a:r>
          </a:p>
          <a:p>
            <a:r>
              <a:rPr lang="en-US" sz="2400" b="1" dirty="0">
                <a:solidFill>
                  <a:schemeClr val="bg1"/>
                </a:solidFill>
              </a:rPr>
              <a:t>Problem Addressed</a:t>
            </a:r>
            <a:r>
              <a:rPr lang="en-US" sz="2400" dirty="0">
                <a:solidFill>
                  <a:schemeClr val="bg1"/>
                </a:solidFill>
              </a:rPr>
              <a:t>: Traditional methods (logbooks/paper forms) lead to disorganized tracking, officer conflicts, and slow resolutions.</a:t>
            </a:r>
          </a:p>
          <a:p>
            <a:r>
              <a:rPr lang="en-US" sz="2400" b="1" dirty="0">
                <a:solidFill>
                  <a:schemeClr val="bg1"/>
                </a:solidFill>
              </a:rPr>
              <a:t>Solution</a:t>
            </a:r>
            <a:r>
              <a:rPr lang="en-US" sz="2400" dirty="0">
                <a:solidFill>
                  <a:schemeClr val="bg1"/>
                </a:solidFill>
              </a:rPr>
              <a:t>: Organizes resident info, urgency, officer assignments, histories, and statuses for streamlined operations.</a:t>
            </a:r>
          </a:p>
          <a:p>
            <a:endParaRPr lang="en-PH" dirty="0"/>
          </a:p>
        </p:txBody>
      </p:sp>
      <p:sp>
        <p:nvSpPr>
          <p:cNvPr id="4" name="TextBox 3">
            <a:extLst>
              <a:ext uri="{FF2B5EF4-FFF2-40B4-BE49-F238E27FC236}">
                <a16:creationId xmlns:a16="http://schemas.microsoft.com/office/drawing/2014/main" id="{BAE829EE-C377-096A-D253-01A2C68CD77E}"/>
              </a:ext>
            </a:extLst>
          </p:cNvPr>
          <p:cNvSpPr txBox="1"/>
          <p:nvPr/>
        </p:nvSpPr>
        <p:spPr>
          <a:xfrm>
            <a:off x="661481" y="389106"/>
            <a:ext cx="6498076" cy="523220"/>
          </a:xfrm>
          <a:prstGeom prst="rect">
            <a:avLst/>
          </a:prstGeom>
          <a:noFill/>
        </p:spPr>
        <p:txBody>
          <a:bodyPr wrap="square" rtlCol="0">
            <a:spAutoFit/>
          </a:bodyPr>
          <a:lstStyle/>
          <a:p>
            <a:r>
              <a:rPr lang="en-PH" b="1" dirty="0"/>
              <a:t> </a:t>
            </a:r>
            <a:r>
              <a:rPr lang="en-PH" sz="2800" b="1" dirty="0">
                <a:solidFill>
                  <a:schemeClr val="bg1"/>
                </a:solidFill>
              </a:rPr>
              <a:t>Project Overview:</a:t>
            </a:r>
            <a:endParaRPr lang="en-PH" b="1" dirty="0">
              <a:solidFill>
                <a:schemeClr val="bg1"/>
              </a:solidFill>
            </a:endParaRPr>
          </a:p>
        </p:txBody>
      </p:sp>
    </p:spTree>
    <p:extLst>
      <p:ext uri="{BB962C8B-B14F-4D97-AF65-F5344CB8AC3E}">
        <p14:creationId xmlns:p14="http://schemas.microsoft.com/office/powerpoint/2010/main" val="1656247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F9EB6-C4FA-832F-0D0A-D52A59D5E3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79BBB1-4F12-A2C0-03F5-A407C8D7454E}"/>
              </a:ext>
            </a:extLst>
          </p:cNvPr>
          <p:cNvSpPr>
            <a:spLocks noGrp="1"/>
          </p:cNvSpPr>
          <p:nvPr>
            <p:ph idx="1"/>
          </p:nvPr>
        </p:nvSpPr>
        <p:spPr>
          <a:xfrm>
            <a:off x="894943" y="1150654"/>
            <a:ext cx="8881354" cy="4987500"/>
          </a:xfrm>
        </p:spPr>
        <p:txBody>
          <a:bodyPr>
            <a:normAutofit fontScale="85000" lnSpcReduction="10000"/>
          </a:bodyPr>
          <a:lstStyle/>
          <a:p>
            <a:pPr marL="0" indent="0">
              <a:buNone/>
            </a:pPr>
            <a:r>
              <a:rPr lang="en-US" sz="2200" b="1" dirty="0">
                <a:solidFill>
                  <a:schemeClr val="bg1"/>
                </a:solidFill>
              </a:rPr>
              <a:t>General Objective</a:t>
            </a:r>
            <a:r>
              <a:rPr lang="en-US" sz="2200" dirty="0">
                <a:solidFill>
                  <a:schemeClr val="bg1"/>
                </a:solidFill>
              </a:rPr>
              <a:t>: </a:t>
            </a:r>
          </a:p>
          <a:p>
            <a:r>
              <a:rPr lang="en-US" dirty="0">
                <a:solidFill>
                  <a:schemeClr val="bg1"/>
                </a:solidFill>
              </a:rPr>
              <a:t>To develop a console-based mini-system that helps the barangay manage complaints efficiently, allowing residents to report issues and officers to track, assign, and resolve them in an organized and timely manner, improving complaint handling and community communication.</a:t>
            </a:r>
          </a:p>
          <a:p>
            <a:pPr marL="0" indent="0">
              <a:buNone/>
            </a:pPr>
            <a:r>
              <a:rPr lang="en-US" sz="2200" b="1" dirty="0">
                <a:solidFill>
                  <a:schemeClr val="bg1"/>
                </a:solidFill>
              </a:rPr>
              <a:t>Specific Objectives</a:t>
            </a:r>
            <a:r>
              <a:rPr lang="en-US" sz="2200" dirty="0">
                <a:solidFill>
                  <a:schemeClr val="bg1"/>
                </a:solidFill>
              </a:rPr>
              <a:t>:</a:t>
            </a:r>
          </a:p>
          <a:p>
            <a:r>
              <a:rPr lang="en-US" dirty="0">
                <a:solidFill>
                  <a:schemeClr val="bg1"/>
                </a:solidFill>
              </a:rPr>
              <a:t>Manage submission of complaints with resident details.</a:t>
            </a:r>
          </a:p>
          <a:p>
            <a:r>
              <a:rPr lang="en-US" dirty="0">
                <a:solidFill>
                  <a:schemeClr val="bg1"/>
                </a:solidFill>
              </a:rPr>
              <a:t>Determine urgency and seriousness of each complaint.</a:t>
            </a:r>
          </a:p>
          <a:p>
            <a:r>
              <a:rPr lang="en-US" dirty="0">
                <a:solidFill>
                  <a:schemeClr val="bg1"/>
                </a:solidFill>
              </a:rPr>
              <a:t>Schedule settlements with time only if required (Amicable Settlement or Hearing).</a:t>
            </a:r>
          </a:p>
          <a:p>
            <a:r>
              <a:rPr lang="en-US" dirty="0">
                <a:solidFill>
                  <a:schemeClr val="bg1"/>
                </a:solidFill>
              </a:rPr>
              <a:t>Allow immediate resolution of minor complaints without meetings.</a:t>
            </a:r>
          </a:p>
          <a:p>
            <a:r>
              <a:rPr lang="en-US" dirty="0">
                <a:solidFill>
                  <a:schemeClr val="bg1"/>
                </a:solidFill>
              </a:rPr>
              <a:t>Assign officers to complaints and track their availability.</a:t>
            </a:r>
          </a:p>
          <a:p>
            <a:r>
              <a:rPr lang="en-US" dirty="0">
                <a:solidFill>
                  <a:schemeClr val="bg1"/>
                </a:solidFill>
              </a:rPr>
              <a:t>Update complaint status (Pending, In Progress, Resolved).</a:t>
            </a:r>
          </a:p>
          <a:p>
            <a:r>
              <a:rPr lang="en-US" dirty="0">
                <a:solidFill>
                  <a:schemeClr val="bg1"/>
                </a:solidFill>
              </a:rPr>
              <a:t>Edit Complaint easily.</a:t>
            </a:r>
          </a:p>
          <a:p>
            <a:r>
              <a:rPr lang="en-US" dirty="0">
                <a:solidFill>
                  <a:schemeClr val="bg1"/>
                </a:solidFill>
              </a:rPr>
              <a:t>Maintain a history of resolved complaints for record-keeping.</a:t>
            </a:r>
          </a:p>
        </p:txBody>
      </p:sp>
      <p:sp>
        <p:nvSpPr>
          <p:cNvPr id="4" name="TextBox 3">
            <a:extLst>
              <a:ext uri="{FF2B5EF4-FFF2-40B4-BE49-F238E27FC236}">
                <a16:creationId xmlns:a16="http://schemas.microsoft.com/office/drawing/2014/main" id="{885DC73F-4B67-99E9-9AB3-9F26BEEE78BE}"/>
              </a:ext>
            </a:extLst>
          </p:cNvPr>
          <p:cNvSpPr txBox="1"/>
          <p:nvPr/>
        </p:nvSpPr>
        <p:spPr>
          <a:xfrm>
            <a:off x="661481" y="389106"/>
            <a:ext cx="6498076" cy="584775"/>
          </a:xfrm>
          <a:prstGeom prst="rect">
            <a:avLst/>
          </a:prstGeom>
          <a:noFill/>
        </p:spPr>
        <p:txBody>
          <a:bodyPr wrap="square" rtlCol="0">
            <a:spAutoFit/>
          </a:bodyPr>
          <a:lstStyle/>
          <a:p>
            <a:r>
              <a:rPr lang="en-PH" sz="1600" b="1" dirty="0">
                <a:latin typeface="+mj-lt"/>
              </a:rPr>
              <a:t> </a:t>
            </a:r>
            <a:r>
              <a:rPr lang="en-PH" sz="2800" b="1" i="0" dirty="0">
                <a:solidFill>
                  <a:srgbClr val="111827"/>
                </a:solidFill>
                <a:effectLst/>
                <a:latin typeface="+mj-lt"/>
              </a:rPr>
              <a:t>Objectives</a:t>
            </a:r>
            <a:r>
              <a:rPr lang="en-PH" sz="3200" b="1" dirty="0">
                <a:solidFill>
                  <a:schemeClr val="bg1"/>
                </a:solidFill>
              </a:rPr>
              <a:t>:</a:t>
            </a:r>
            <a:endParaRPr lang="en-PH" b="1" dirty="0">
              <a:solidFill>
                <a:schemeClr val="bg1"/>
              </a:solidFill>
            </a:endParaRPr>
          </a:p>
        </p:txBody>
      </p:sp>
    </p:spTree>
    <p:extLst>
      <p:ext uri="{BB962C8B-B14F-4D97-AF65-F5344CB8AC3E}">
        <p14:creationId xmlns:p14="http://schemas.microsoft.com/office/powerpoint/2010/main" val="1739040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D8EF5-999F-8EC9-BBAC-BE7AF5C534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C150F-6E6D-4A2F-6767-434E8A67515A}"/>
              </a:ext>
            </a:extLst>
          </p:cNvPr>
          <p:cNvSpPr>
            <a:spLocks noGrp="1"/>
          </p:cNvSpPr>
          <p:nvPr>
            <p:ph idx="1"/>
          </p:nvPr>
        </p:nvSpPr>
        <p:spPr>
          <a:xfrm>
            <a:off x="661481" y="894146"/>
            <a:ext cx="8881354" cy="4987500"/>
          </a:xfrm>
        </p:spPr>
        <p:txBody>
          <a:bodyPr>
            <a:normAutofit/>
          </a:bodyPr>
          <a:lstStyle/>
          <a:p>
            <a:r>
              <a:rPr lang="en-US" sz="2200" b="1" dirty="0">
                <a:solidFill>
                  <a:schemeClr val="bg1"/>
                </a:solidFill>
              </a:rPr>
              <a:t>To Residents</a:t>
            </a:r>
            <a:r>
              <a:rPr lang="en-US" sz="2200" dirty="0">
                <a:solidFill>
                  <a:schemeClr val="bg1"/>
                </a:solidFill>
              </a:rPr>
              <a:t>: Organized, transparent process for submitting complaints; urgent issues are tracked, minor ones resolved immediately, and unresolved escalated to Amicable Settlements/hearings.</a:t>
            </a:r>
          </a:p>
          <a:p>
            <a:r>
              <a:rPr lang="en-US" sz="2200" b="1" dirty="0">
                <a:solidFill>
                  <a:schemeClr val="bg1"/>
                </a:solidFill>
              </a:rPr>
              <a:t>To Barangay Officers</a:t>
            </a:r>
            <a:r>
              <a:rPr lang="en-US" sz="2200" dirty="0">
                <a:solidFill>
                  <a:schemeClr val="bg1"/>
                </a:solidFill>
              </a:rPr>
              <a:t>: Structured assignments prevent double-booking, allowing efficient focus on resolutions.</a:t>
            </a:r>
          </a:p>
          <a:p>
            <a:r>
              <a:rPr lang="en-US" sz="2200" b="1" dirty="0">
                <a:solidFill>
                  <a:schemeClr val="bg1"/>
                </a:solidFill>
              </a:rPr>
              <a:t>To Barangay Administrators</a:t>
            </a:r>
            <a:r>
              <a:rPr lang="en-US" sz="2200" dirty="0">
                <a:solidFill>
                  <a:schemeClr val="bg1"/>
                </a:solidFill>
              </a:rPr>
              <a:t>: Improved efficiency, reduced workload, and better record organization (histories, schedules, updates).</a:t>
            </a:r>
          </a:p>
          <a:p>
            <a:r>
              <a:rPr lang="en-US" sz="2200" b="1" dirty="0">
                <a:solidFill>
                  <a:schemeClr val="bg1"/>
                </a:solidFill>
              </a:rPr>
              <a:t>To Communities</a:t>
            </a:r>
            <a:r>
              <a:rPr lang="en-US" sz="2200" dirty="0">
                <a:solidFill>
                  <a:schemeClr val="bg1"/>
                </a:solidFill>
              </a:rPr>
              <a:t>: Faster responses, accountability, and systematic handling foster trust and responsive operations.</a:t>
            </a:r>
          </a:p>
        </p:txBody>
      </p:sp>
      <p:sp>
        <p:nvSpPr>
          <p:cNvPr id="4" name="TextBox 3">
            <a:extLst>
              <a:ext uri="{FF2B5EF4-FFF2-40B4-BE49-F238E27FC236}">
                <a16:creationId xmlns:a16="http://schemas.microsoft.com/office/drawing/2014/main" id="{AB43423B-5035-BB68-F257-42CDB1685519}"/>
              </a:ext>
            </a:extLst>
          </p:cNvPr>
          <p:cNvSpPr txBox="1"/>
          <p:nvPr/>
        </p:nvSpPr>
        <p:spPr>
          <a:xfrm>
            <a:off x="661481" y="389106"/>
            <a:ext cx="6498076" cy="523220"/>
          </a:xfrm>
          <a:prstGeom prst="rect">
            <a:avLst/>
          </a:prstGeom>
          <a:noFill/>
        </p:spPr>
        <p:txBody>
          <a:bodyPr wrap="square" rtlCol="0">
            <a:spAutoFit/>
          </a:bodyPr>
          <a:lstStyle/>
          <a:p>
            <a:r>
              <a:rPr lang="en-PH" sz="2400" b="1" dirty="0">
                <a:solidFill>
                  <a:schemeClr val="bg1"/>
                </a:solidFill>
              </a:rPr>
              <a:t> </a:t>
            </a:r>
            <a:r>
              <a:rPr lang="en-PH" sz="2800" b="1" dirty="0">
                <a:solidFill>
                  <a:schemeClr val="bg1"/>
                </a:solidFill>
              </a:rPr>
              <a:t>Significance of the study:</a:t>
            </a:r>
            <a:endParaRPr lang="en-PH" b="1" dirty="0">
              <a:solidFill>
                <a:schemeClr val="bg1"/>
              </a:solidFill>
            </a:endParaRPr>
          </a:p>
        </p:txBody>
      </p:sp>
    </p:spTree>
    <p:extLst>
      <p:ext uri="{BB962C8B-B14F-4D97-AF65-F5344CB8AC3E}">
        <p14:creationId xmlns:p14="http://schemas.microsoft.com/office/powerpoint/2010/main" val="4155972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9A12-6946-81C5-9A30-C0933F3B50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413E0-45B2-1298-B6E2-18A8DD385756}"/>
              </a:ext>
            </a:extLst>
          </p:cNvPr>
          <p:cNvSpPr>
            <a:spLocks noGrp="1"/>
          </p:cNvSpPr>
          <p:nvPr>
            <p:ph idx="1"/>
          </p:nvPr>
        </p:nvSpPr>
        <p:spPr>
          <a:xfrm>
            <a:off x="661481" y="1215158"/>
            <a:ext cx="8881354" cy="4987500"/>
          </a:xfrm>
        </p:spPr>
        <p:txBody>
          <a:bodyPr>
            <a:normAutofit fontScale="85000" lnSpcReduction="20000"/>
          </a:bodyPr>
          <a:lstStyle/>
          <a:p>
            <a:pPr marL="0" indent="0">
              <a:buNone/>
            </a:pPr>
            <a:r>
              <a:rPr lang="en-US" sz="2400" b="1" dirty="0">
                <a:solidFill>
                  <a:schemeClr val="bg1"/>
                </a:solidFill>
              </a:rPr>
              <a:t>Architecture</a:t>
            </a:r>
            <a:r>
              <a:rPr lang="en-US" sz="2400" dirty="0">
                <a:solidFill>
                  <a:schemeClr val="bg1"/>
                </a:solidFill>
              </a:rPr>
              <a:t>: Modular console-based design with classes for </a:t>
            </a:r>
            <a:r>
              <a:rPr lang="en-US" sz="2400" dirty="0" err="1">
                <a:solidFill>
                  <a:schemeClr val="bg1"/>
                </a:solidFill>
              </a:rPr>
              <a:t>ComplaintManager</a:t>
            </a:r>
            <a:r>
              <a:rPr lang="en-US" sz="2400" dirty="0">
                <a:solidFill>
                  <a:schemeClr val="bg1"/>
                </a:solidFill>
              </a:rPr>
              <a:t>, </a:t>
            </a:r>
            <a:r>
              <a:rPr lang="en-US" sz="2400" dirty="0" err="1">
                <a:solidFill>
                  <a:schemeClr val="bg1"/>
                </a:solidFill>
              </a:rPr>
              <a:t>OfficerManager</a:t>
            </a:r>
            <a:r>
              <a:rPr lang="en-US" sz="2400" dirty="0">
                <a:solidFill>
                  <a:schemeClr val="bg1"/>
                </a:solidFill>
              </a:rPr>
              <a:t>, and </a:t>
            </a:r>
            <a:r>
              <a:rPr lang="en-US" sz="2400" dirty="0" err="1">
                <a:solidFill>
                  <a:schemeClr val="bg1"/>
                </a:solidFill>
              </a:rPr>
              <a:t>InputHelper</a:t>
            </a:r>
            <a:r>
              <a:rPr lang="en-US" sz="2400" dirty="0">
                <a:solidFill>
                  <a:schemeClr val="bg1"/>
                </a:solidFill>
              </a:rPr>
              <a:t>.</a:t>
            </a:r>
            <a:br>
              <a:rPr lang="en-US" sz="2400" dirty="0">
                <a:solidFill>
                  <a:schemeClr val="bg1"/>
                </a:solidFill>
              </a:rPr>
            </a:br>
            <a:endParaRPr lang="en-US" sz="2400" dirty="0">
              <a:solidFill>
                <a:schemeClr val="bg1"/>
              </a:solidFill>
            </a:endParaRPr>
          </a:p>
          <a:p>
            <a:pPr marL="0" indent="0">
              <a:buNone/>
            </a:pPr>
            <a:r>
              <a:rPr lang="en-US" sz="2400" b="1" dirty="0">
                <a:solidFill>
                  <a:schemeClr val="bg1"/>
                </a:solidFill>
              </a:rPr>
              <a:t>Data Structures</a:t>
            </a:r>
            <a:r>
              <a:rPr lang="en-US" sz="2400" dirty="0">
                <a:solidFill>
                  <a:schemeClr val="bg1"/>
                </a:solidFill>
              </a:rPr>
              <a:t>:</a:t>
            </a:r>
          </a:p>
          <a:p>
            <a:r>
              <a:rPr lang="en-US" sz="2400" b="1" dirty="0">
                <a:solidFill>
                  <a:schemeClr val="bg1"/>
                </a:solidFill>
              </a:rPr>
              <a:t>Resident</a:t>
            </a:r>
            <a:r>
              <a:rPr lang="en-US" sz="2400" dirty="0">
                <a:solidFill>
                  <a:schemeClr val="bg1"/>
                </a:solidFill>
              </a:rPr>
              <a:t>: Name, contact, address.</a:t>
            </a:r>
          </a:p>
          <a:p>
            <a:r>
              <a:rPr lang="en-US" sz="2400" b="1" dirty="0">
                <a:solidFill>
                  <a:schemeClr val="bg1"/>
                </a:solidFill>
              </a:rPr>
              <a:t>Complaint</a:t>
            </a:r>
            <a:r>
              <a:rPr lang="en-US" sz="2400" dirty="0">
                <a:solidFill>
                  <a:schemeClr val="bg1"/>
                </a:solidFill>
              </a:rPr>
              <a:t>: ID, resident, description, status, settlement type/date, assigned officer.</a:t>
            </a:r>
          </a:p>
          <a:p>
            <a:r>
              <a:rPr lang="en-US" sz="2400" b="1" dirty="0">
                <a:solidFill>
                  <a:schemeClr val="bg1"/>
                </a:solidFill>
              </a:rPr>
              <a:t>Officer</a:t>
            </a:r>
            <a:r>
              <a:rPr lang="en-US" sz="2400" dirty="0">
                <a:solidFill>
                  <a:schemeClr val="bg1"/>
                </a:solidFill>
              </a:rPr>
              <a:t>: ID, name, availability.</a:t>
            </a:r>
          </a:p>
          <a:p>
            <a:pPr marL="0" indent="0">
              <a:buNone/>
            </a:pPr>
            <a:r>
              <a:rPr lang="en-US" sz="2400" b="1" dirty="0">
                <a:solidFill>
                  <a:schemeClr val="bg1"/>
                </a:solidFill>
              </a:rPr>
              <a:t>Key Classes</a:t>
            </a:r>
            <a:r>
              <a:rPr lang="en-US" sz="2400" dirty="0">
                <a:solidFill>
                  <a:schemeClr val="bg1"/>
                </a:solidFill>
              </a:rPr>
              <a:t>:</a:t>
            </a:r>
            <a:endParaRPr lang="en-US" sz="2400" b="1" dirty="0">
              <a:solidFill>
                <a:schemeClr val="bg1"/>
              </a:solidFill>
            </a:endParaRPr>
          </a:p>
          <a:p>
            <a:r>
              <a:rPr lang="en-US" sz="2400" b="1" dirty="0" err="1">
                <a:solidFill>
                  <a:schemeClr val="bg1"/>
                </a:solidFill>
              </a:rPr>
              <a:t>ComplaintManager</a:t>
            </a:r>
            <a:r>
              <a:rPr lang="en-US" sz="2400" dirty="0">
                <a:solidFill>
                  <a:schemeClr val="bg1"/>
                </a:solidFill>
              </a:rPr>
              <a:t>: Handles submission, viewing, updates, and history.</a:t>
            </a:r>
          </a:p>
          <a:p>
            <a:r>
              <a:rPr lang="en-US" sz="2400" b="1" dirty="0" err="1">
                <a:solidFill>
                  <a:schemeClr val="bg1"/>
                </a:solidFill>
              </a:rPr>
              <a:t>OfficerManager</a:t>
            </a:r>
            <a:r>
              <a:rPr lang="en-US" sz="2400" dirty="0">
                <a:solidFill>
                  <a:schemeClr val="bg1"/>
                </a:solidFill>
              </a:rPr>
              <a:t>: Manages assignments and availability.</a:t>
            </a:r>
          </a:p>
          <a:p>
            <a:r>
              <a:rPr lang="en-US" sz="2400" b="1" dirty="0" err="1">
                <a:solidFill>
                  <a:schemeClr val="bg1"/>
                </a:solidFill>
              </a:rPr>
              <a:t>InputHelper</a:t>
            </a:r>
            <a:r>
              <a:rPr lang="en-US" sz="2400" dirty="0">
                <a:solidFill>
                  <a:schemeClr val="bg1"/>
                </a:solidFill>
              </a:rPr>
              <a:t>: Validates inputs (e.g., dates, contacts).</a:t>
            </a:r>
          </a:p>
          <a:p>
            <a:pPr marL="0" indent="0">
              <a:buNone/>
            </a:pPr>
            <a:br>
              <a:rPr lang="en-US" dirty="0"/>
            </a:br>
            <a:endParaRPr lang="en-US" sz="2200" dirty="0">
              <a:solidFill>
                <a:schemeClr val="bg1"/>
              </a:solidFill>
            </a:endParaRPr>
          </a:p>
        </p:txBody>
      </p:sp>
      <p:sp>
        <p:nvSpPr>
          <p:cNvPr id="4" name="TextBox 3">
            <a:extLst>
              <a:ext uri="{FF2B5EF4-FFF2-40B4-BE49-F238E27FC236}">
                <a16:creationId xmlns:a16="http://schemas.microsoft.com/office/drawing/2014/main" id="{FA74815F-383E-FBBE-BE66-C05FF2C171A9}"/>
              </a:ext>
            </a:extLst>
          </p:cNvPr>
          <p:cNvSpPr txBox="1"/>
          <p:nvPr/>
        </p:nvSpPr>
        <p:spPr>
          <a:xfrm>
            <a:off x="661481" y="389106"/>
            <a:ext cx="6498076" cy="523220"/>
          </a:xfrm>
          <a:prstGeom prst="rect">
            <a:avLst/>
          </a:prstGeom>
          <a:noFill/>
        </p:spPr>
        <p:txBody>
          <a:bodyPr wrap="square" rtlCol="0">
            <a:spAutoFit/>
          </a:bodyPr>
          <a:lstStyle/>
          <a:p>
            <a:r>
              <a:rPr lang="en-PH" sz="2400" b="1" dirty="0">
                <a:solidFill>
                  <a:schemeClr val="bg1"/>
                </a:solidFill>
              </a:rPr>
              <a:t> </a:t>
            </a:r>
            <a:r>
              <a:rPr lang="en-PH" sz="2800" b="1" dirty="0">
                <a:solidFill>
                  <a:schemeClr val="bg1"/>
                </a:solidFill>
              </a:rPr>
              <a:t>System Design and Architecture:</a:t>
            </a:r>
            <a:endParaRPr lang="en-PH" b="1" dirty="0">
              <a:solidFill>
                <a:schemeClr val="bg1"/>
              </a:solidFill>
            </a:endParaRPr>
          </a:p>
        </p:txBody>
      </p:sp>
    </p:spTree>
    <p:extLst>
      <p:ext uri="{BB962C8B-B14F-4D97-AF65-F5344CB8AC3E}">
        <p14:creationId xmlns:p14="http://schemas.microsoft.com/office/powerpoint/2010/main" val="281020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30A29-503E-B8E4-7334-3258E9EACE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11AEC7-90EB-400D-2476-C0A6F4C0C59B}"/>
              </a:ext>
            </a:extLst>
          </p:cNvPr>
          <p:cNvSpPr>
            <a:spLocks noGrp="1"/>
          </p:cNvSpPr>
          <p:nvPr>
            <p:ph idx="1"/>
          </p:nvPr>
        </p:nvSpPr>
        <p:spPr>
          <a:xfrm>
            <a:off x="661481" y="1215158"/>
            <a:ext cx="8881354" cy="4987500"/>
          </a:xfrm>
        </p:spPr>
        <p:txBody>
          <a:bodyPr>
            <a:normAutofit/>
          </a:bodyPr>
          <a:lstStyle/>
          <a:p>
            <a:r>
              <a:rPr lang="en-US" sz="2200" b="1" dirty="0">
                <a:solidFill>
                  <a:schemeClr val="bg1"/>
                </a:solidFill>
              </a:rPr>
              <a:t>Complaint Submission</a:t>
            </a:r>
            <a:r>
              <a:rPr lang="en-US" sz="2200" dirty="0">
                <a:solidFill>
                  <a:schemeClr val="bg1"/>
                </a:solidFill>
              </a:rPr>
              <a:t>: Multi-step with validation (e.g., 11-digit contacts, future dates); determines seriousness and schedules hearings/settlements.</a:t>
            </a:r>
          </a:p>
          <a:p>
            <a:r>
              <a:rPr lang="en-US" sz="2200" b="1" dirty="0">
                <a:solidFill>
                  <a:schemeClr val="bg1"/>
                </a:solidFill>
              </a:rPr>
              <a:t>Viewing and Filtering</a:t>
            </a:r>
            <a:r>
              <a:rPr lang="en-US" sz="2200" dirty="0">
                <a:solidFill>
                  <a:schemeClr val="bg1"/>
                </a:solidFill>
              </a:rPr>
              <a:t>: Displays complaints by status; shows messages if empty (e.g., "No pending complaints").</a:t>
            </a:r>
          </a:p>
          <a:p>
            <a:r>
              <a:rPr lang="en-US" sz="2200" b="1" dirty="0">
                <a:solidFill>
                  <a:schemeClr val="bg1"/>
                </a:solidFill>
              </a:rPr>
              <a:t>Officer Assignment</a:t>
            </a:r>
            <a:r>
              <a:rPr lang="en-US" sz="2200" dirty="0">
                <a:solidFill>
                  <a:schemeClr val="bg1"/>
                </a:solidFill>
              </a:rPr>
              <a:t>: Assigns only to unassigned complaints; changes require prior assignment.</a:t>
            </a:r>
          </a:p>
          <a:p>
            <a:r>
              <a:rPr lang="en-US" sz="2200" b="1" dirty="0">
                <a:solidFill>
                  <a:schemeClr val="bg1"/>
                </a:solidFill>
              </a:rPr>
              <a:t>Editing Complaint: </a:t>
            </a:r>
            <a:r>
              <a:rPr lang="en-US" sz="2200" dirty="0">
                <a:solidFill>
                  <a:schemeClr val="bg1"/>
                </a:solidFill>
              </a:rPr>
              <a:t>it can edit all complaints data.</a:t>
            </a:r>
            <a:endParaRPr lang="en-US" sz="2200" b="1" dirty="0">
              <a:solidFill>
                <a:schemeClr val="bg1"/>
              </a:solidFill>
            </a:endParaRPr>
          </a:p>
          <a:p>
            <a:r>
              <a:rPr lang="en-US" sz="2200" b="1" dirty="0">
                <a:solidFill>
                  <a:schemeClr val="bg1"/>
                </a:solidFill>
              </a:rPr>
              <a:t>Status Updates</a:t>
            </a:r>
            <a:r>
              <a:rPr lang="en-US" sz="2200" dirty="0">
                <a:solidFill>
                  <a:schemeClr val="bg1"/>
                </a:solidFill>
              </a:rPr>
              <a:t>: Updates with duplicate checks (e.g., "Status is already Pending"); resolves and archives.</a:t>
            </a:r>
          </a:p>
          <a:p>
            <a:r>
              <a:rPr lang="en-US" sz="2200" b="1" dirty="0">
                <a:solidFill>
                  <a:schemeClr val="bg1"/>
                </a:solidFill>
              </a:rPr>
              <a:t>History</a:t>
            </a:r>
            <a:r>
              <a:rPr lang="en-US" sz="2200" dirty="0">
                <a:solidFill>
                  <a:schemeClr val="bg1"/>
                </a:solidFill>
              </a:rPr>
              <a:t>: Maintains resolved complaints for records.</a:t>
            </a:r>
          </a:p>
        </p:txBody>
      </p:sp>
      <p:sp>
        <p:nvSpPr>
          <p:cNvPr id="4" name="TextBox 3">
            <a:extLst>
              <a:ext uri="{FF2B5EF4-FFF2-40B4-BE49-F238E27FC236}">
                <a16:creationId xmlns:a16="http://schemas.microsoft.com/office/drawing/2014/main" id="{CAB2BBF4-597F-B286-9F0C-52859E5BD841}"/>
              </a:ext>
            </a:extLst>
          </p:cNvPr>
          <p:cNvSpPr txBox="1"/>
          <p:nvPr/>
        </p:nvSpPr>
        <p:spPr>
          <a:xfrm>
            <a:off x="535021" y="515566"/>
            <a:ext cx="7334655" cy="523220"/>
          </a:xfrm>
          <a:prstGeom prst="rect">
            <a:avLst/>
          </a:prstGeom>
          <a:noFill/>
        </p:spPr>
        <p:txBody>
          <a:bodyPr wrap="square" rtlCol="0">
            <a:spAutoFit/>
          </a:bodyPr>
          <a:lstStyle/>
          <a:p>
            <a:r>
              <a:rPr lang="en-PH" sz="2800" b="1" dirty="0">
                <a:solidFill>
                  <a:schemeClr val="bg1"/>
                </a:solidFill>
              </a:rPr>
              <a:t> Implementation Details - Core Features:</a:t>
            </a:r>
            <a:endParaRPr lang="en-PH" sz="2000" b="1" dirty="0">
              <a:solidFill>
                <a:schemeClr val="bg1"/>
              </a:solidFill>
            </a:endParaRPr>
          </a:p>
        </p:txBody>
      </p:sp>
    </p:spTree>
    <p:extLst>
      <p:ext uri="{BB962C8B-B14F-4D97-AF65-F5344CB8AC3E}">
        <p14:creationId xmlns:p14="http://schemas.microsoft.com/office/powerpoint/2010/main" val="3075881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2D07D-9258-0852-82F3-6E69BDB9C7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BB8C34-9DF5-FFD5-4DBB-D6C6AB51C883}"/>
              </a:ext>
            </a:extLst>
          </p:cNvPr>
          <p:cNvSpPr>
            <a:spLocks noGrp="1"/>
          </p:cNvSpPr>
          <p:nvPr>
            <p:ph idx="1"/>
          </p:nvPr>
        </p:nvSpPr>
        <p:spPr>
          <a:xfrm>
            <a:off x="661481" y="641227"/>
            <a:ext cx="8881354" cy="4987500"/>
          </a:xfrm>
        </p:spPr>
        <p:txBody>
          <a:bodyPr>
            <a:normAutofit/>
          </a:bodyPr>
          <a:lstStyle/>
          <a:p>
            <a:r>
              <a:rPr lang="en-US" sz="2400" b="1" dirty="0">
                <a:solidFill>
                  <a:schemeClr val="bg1"/>
                </a:solidFill>
              </a:rPr>
              <a:t>Validation Rules</a:t>
            </a:r>
            <a:r>
              <a:rPr lang="en-US" sz="2400" dirty="0">
                <a:solidFill>
                  <a:schemeClr val="bg1"/>
                </a:solidFill>
              </a:rPr>
              <a:t>: Contacts (11 digits), dates (MM/DD/YYYY, future-only), non-empty fields; yes/no with shortcuts (y/n).</a:t>
            </a:r>
          </a:p>
          <a:p>
            <a:r>
              <a:rPr lang="en-US" sz="2400" b="1" dirty="0">
                <a:solidFill>
                  <a:schemeClr val="bg1"/>
                </a:solidFill>
              </a:rPr>
              <a:t>Error Messages</a:t>
            </a:r>
            <a:r>
              <a:rPr lang="en-US" sz="2400" dirty="0">
                <a:solidFill>
                  <a:schemeClr val="bg1"/>
                </a:solidFill>
              </a:rPr>
              <a:t>: "Date cannot be in the past," "Complaint not found," "No officer assigned."</a:t>
            </a:r>
          </a:p>
          <a:p>
            <a:r>
              <a:rPr lang="en-US" sz="2400" b="1" dirty="0">
                <a:solidFill>
                  <a:schemeClr val="bg1"/>
                </a:solidFill>
              </a:rPr>
              <a:t>Navigation</a:t>
            </a:r>
            <a:r>
              <a:rPr lang="en-US" sz="2400" dirty="0">
                <a:solidFill>
                  <a:schemeClr val="bg1"/>
                </a:solidFill>
              </a:rPr>
              <a:t>: Consistent "b" (back) and “c" (menu) for seamless flow.</a:t>
            </a:r>
          </a:p>
        </p:txBody>
      </p:sp>
      <p:sp>
        <p:nvSpPr>
          <p:cNvPr id="4" name="TextBox 3">
            <a:extLst>
              <a:ext uri="{FF2B5EF4-FFF2-40B4-BE49-F238E27FC236}">
                <a16:creationId xmlns:a16="http://schemas.microsoft.com/office/drawing/2014/main" id="{706263A5-8273-C86A-EC2B-4B311187BFCB}"/>
              </a:ext>
            </a:extLst>
          </p:cNvPr>
          <p:cNvSpPr txBox="1"/>
          <p:nvPr/>
        </p:nvSpPr>
        <p:spPr>
          <a:xfrm>
            <a:off x="661481" y="641227"/>
            <a:ext cx="6498076" cy="523220"/>
          </a:xfrm>
          <a:prstGeom prst="rect">
            <a:avLst/>
          </a:prstGeom>
          <a:noFill/>
        </p:spPr>
        <p:txBody>
          <a:bodyPr wrap="square" rtlCol="0">
            <a:spAutoFit/>
          </a:bodyPr>
          <a:lstStyle/>
          <a:p>
            <a:r>
              <a:rPr lang="en-PH" sz="2800" b="1" dirty="0">
                <a:solidFill>
                  <a:schemeClr val="bg1"/>
                </a:solidFill>
              </a:rPr>
              <a:t>Input Validation and Error Handling:</a:t>
            </a:r>
          </a:p>
        </p:txBody>
      </p:sp>
    </p:spTree>
    <p:extLst>
      <p:ext uri="{BB962C8B-B14F-4D97-AF65-F5344CB8AC3E}">
        <p14:creationId xmlns:p14="http://schemas.microsoft.com/office/powerpoint/2010/main" val="3964156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A45B-9F6C-BE9E-73D0-B28D53B336E8}"/>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7F0500-6092-A9F3-1641-BB8E7A9782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998" y="117137"/>
            <a:ext cx="10526042" cy="66237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extBox 3">
            <a:extLst>
              <a:ext uri="{FF2B5EF4-FFF2-40B4-BE49-F238E27FC236}">
                <a16:creationId xmlns:a16="http://schemas.microsoft.com/office/drawing/2014/main" id="{11A094C1-B12D-5220-8997-CA764CE9DD45}"/>
              </a:ext>
            </a:extLst>
          </p:cNvPr>
          <p:cNvSpPr txBox="1"/>
          <p:nvPr/>
        </p:nvSpPr>
        <p:spPr>
          <a:xfrm>
            <a:off x="680720" y="345440"/>
            <a:ext cx="6498076" cy="400110"/>
          </a:xfrm>
          <a:prstGeom prst="rect">
            <a:avLst/>
          </a:prstGeom>
          <a:noFill/>
        </p:spPr>
        <p:txBody>
          <a:bodyPr wrap="square" rtlCol="0">
            <a:spAutoFit/>
          </a:bodyPr>
          <a:lstStyle/>
          <a:p>
            <a:r>
              <a:rPr lang="en-PH" sz="2000" b="1" dirty="0">
                <a:solidFill>
                  <a:schemeClr val="bg1"/>
                </a:solidFill>
              </a:rPr>
              <a:t>Flowchart:</a:t>
            </a:r>
          </a:p>
        </p:txBody>
      </p:sp>
    </p:spTree>
    <p:extLst>
      <p:ext uri="{BB962C8B-B14F-4D97-AF65-F5344CB8AC3E}">
        <p14:creationId xmlns:p14="http://schemas.microsoft.com/office/powerpoint/2010/main" val="299949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50991-D48E-FC5A-1FF2-AC7A62D88F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1BA62B-757E-9889-B8F0-14AFA4F0B72C}"/>
              </a:ext>
            </a:extLst>
          </p:cNvPr>
          <p:cNvSpPr>
            <a:spLocks noGrp="1"/>
          </p:cNvSpPr>
          <p:nvPr>
            <p:ph idx="1"/>
          </p:nvPr>
        </p:nvSpPr>
        <p:spPr>
          <a:xfrm>
            <a:off x="661481" y="641227"/>
            <a:ext cx="8881354" cy="4987500"/>
          </a:xfrm>
        </p:spPr>
        <p:txBody>
          <a:bodyPr>
            <a:normAutofit/>
          </a:bodyPr>
          <a:lstStyle/>
          <a:p>
            <a:r>
              <a:rPr lang="en-US" sz="2800" dirty="0" err="1">
                <a:solidFill>
                  <a:schemeClr val="bg1"/>
                </a:solidFill>
              </a:rPr>
              <a:t>ComplaintPro</a:t>
            </a:r>
            <a:r>
              <a:rPr lang="en-US" sz="2800" dirty="0">
                <a:solidFill>
                  <a:schemeClr val="bg1"/>
                </a:solidFill>
              </a:rPr>
              <a:t> successfully delivers an efficient, Kotlin-based console system for barangay complaint management, fulfilling all objectives and enhancing community responsiveness through automated, organized processes.</a:t>
            </a:r>
            <a:endParaRPr lang="en-US" sz="3200" dirty="0">
              <a:solidFill>
                <a:schemeClr val="bg1"/>
              </a:solidFill>
            </a:endParaRPr>
          </a:p>
        </p:txBody>
      </p:sp>
      <p:sp>
        <p:nvSpPr>
          <p:cNvPr id="4" name="TextBox 3">
            <a:extLst>
              <a:ext uri="{FF2B5EF4-FFF2-40B4-BE49-F238E27FC236}">
                <a16:creationId xmlns:a16="http://schemas.microsoft.com/office/drawing/2014/main" id="{15EB8E14-E779-F49C-B832-3900DA0413E1}"/>
              </a:ext>
            </a:extLst>
          </p:cNvPr>
          <p:cNvSpPr txBox="1"/>
          <p:nvPr/>
        </p:nvSpPr>
        <p:spPr>
          <a:xfrm>
            <a:off x="661481" y="641227"/>
            <a:ext cx="6498076" cy="584775"/>
          </a:xfrm>
          <a:prstGeom prst="rect">
            <a:avLst/>
          </a:prstGeom>
          <a:noFill/>
        </p:spPr>
        <p:txBody>
          <a:bodyPr wrap="square" rtlCol="0">
            <a:spAutoFit/>
          </a:bodyPr>
          <a:lstStyle/>
          <a:p>
            <a:r>
              <a:rPr lang="en-PH" sz="3200" b="1" dirty="0">
                <a:solidFill>
                  <a:schemeClr val="bg1"/>
                </a:solidFill>
              </a:rPr>
              <a:t>Conclusion:</a:t>
            </a:r>
          </a:p>
        </p:txBody>
      </p:sp>
    </p:spTree>
    <p:extLst>
      <p:ext uri="{BB962C8B-B14F-4D97-AF65-F5344CB8AC3E}">
        <p14:creationId xmlns:p14="http://schemas.microsoft.com/office/powerpoint/2010/main" val="2707658537"/>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520</TotalTime>
  <Words>616</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Agency FB</vt:lpstr>
      <vt:lpstr>Century Gothic</vt:lpstr>
      <vt:lpstr>Wingdings 3</vt:lpstr>
      <vt:lpstr>Slice</vt:lpstr>
      <vt:lpstr>ComplaintPro: Complaint Management System of Barangay Kingking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Acer</dc:creator>
  <cp:lastModifiedBy>Acer</cp:lastModifiedBy>
  <cp:revision>3</cp:revision>
  <dcterms:created xsi:type="dcterms:W3CDTF">2026-02-03T06:04:33Z</dcterms:created>
  <dcterms:modified xsi:type="dcterms:W3CDTF">2026-02-04T07:25:39Z</dcterms:modified>
</cp:coreProperties>
</file>